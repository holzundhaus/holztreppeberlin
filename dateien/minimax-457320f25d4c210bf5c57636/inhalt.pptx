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holztreppe-berlin/-/blob/0b0528cf18f58fd5c9b83ad8ad7deaac252ffbd0/_posts/2026-10-20-holztreppe-gestaltungselement-offener-grundriss.md" TargetMode="External"/><Relationship Id="rId3" Type="http://schemas.openxmlformats.org/officeDocument/2006/relationships/hyperlink" Target="https://holzundhaus.github.io/holztreppeberlin/dateien/minimax-457320f25d4c210bf5c57636/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Holztreppe als Gestaltungselement im offenen Grundriss · Erklärende Präsentation</a:t>
            </a:r>
          </a:p>
        </p:txBody>
      </p:sp>
      <p:sp>
        <p:nvSpPr>
          <p:cNvPr id="3" name="Content Placeholder 2"/>
          <p:cNvSpPr>
            <a:spLocks noGrp="1"/>
          </p:cNvSpPr>
          <p:nvPr>
            <p:ph idx="1"/>
          </p:nvPr>
        </p:nvSpPr>
        <p:spPr/>
        <p:txBody>
          <a:bodyPr/>
          <a:lstStyle/>
          <a:p>
            <a:r>
              <a:t>Überblick: Eine sichtbare Holztreppe verändert nicht nur den Weg zwischen zwei Geschossen, sondern prägt auch Tageslicht, Raumproportionen und Akustik. Besonders im offenen Grundriss sollte deshalb früh geklärt werden, wie Treppenlauf, Deckenöffnung, Brüstung und Bodenanschluss zusammenspielen. Der folgende Leitfaden bündelt die wichtigsten Planungsfragen – von der statischen Ausführung bis zur akustischen und gestalterischen Wirkung.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Raum und Treppenform gemeinsam betrachten</a:t>
            </a:r>
          </a:p>
        </p:txBody>
      </p:sp>
      <p:sp>
        <p:nvSpPr>
          <p:cNvPr id="3" name="Content Placeholder 2"/>
          <p:cNvSpPr>
            <a:spLocks noGrp="1"/>
          </p:cNvSpPr>
          <p:nvPr>
            <p:ph idx="1"/>
          </p:nvPr>
        </p:nvSpPr>
        <p:spPr/>
        <p:txBody>
          <a:bodyPr/>
          <a:lstStyle/>
          <a:p>
            <a:pPr>
              <a:defRPr sz="1800"/>
            </a:pPr>
            <a:r>
              <a:t>Die Form der Treppe folgt nicht allein der gewünschten Optik, sondern muss zum vorhandenen Grundriss passen. Eine gerade Ausführung wirkt entlang einer klaren Flucht und eignet sich für längliche Raumachsen, während eine gewendelte Treppe den Laufweg umlenkt und eine quadratische Fläche anders gliedert. Eine Podesttreppe schafft zusätzliche Zwischenflächen. Wichtig ist außerdem, wie viel Raum oberhalb und unterhalb des Treppenlaufs frei bleibt. Für die erste Entwurfsphase hilft ein direkter Vergleich der verfügbaren Fläche mit den unterschiedlichen Bauformen. Die Übersicht der Grundbegriffe und Formen von Holztreppen [Grundbegriffe und Formen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Raum und Treppenform gemeinsam betrachten</a:t>
            </a:r>
          </a:p>
        </p:txBody>
      </p:sp>
      <p:sp>
        <p:nvSpPr>
          <p:cNvPr id="3" name="Content Placeholder 2"/>
          <p:cNvSpPr>
            <a:spLocks noGrp="1"/>
          </p:cNvSpPr>
          <p:nvPr>
            <p:ph idx="1"/>
          </p:nvPr>
        </p:nvSpPr>
        <p:spPr/>
        <p:txBody>
          <a:bodyPr/>
          <a:lstStyle/>
          <a:p>
            <a:pPr>
              <a:defRPr sz="1800"/>
            </a:pPr>
            <a:r>
              <a:t> von Holztreppen] kann dafür als Planungsrahmen dienen.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Freitragende Konstruktionen früh abstimmen</a:t>
            </a:r>
          </a:p>
        </p:txBody>
      </p:sp>
      <p:sp>
        <p:nvSpPr>
          <p:cNvPr id="3" name="Content Placeholder 2"/>
          <p:cNvSpPr>
            <a:spLocks noGrp="1"/>
          </p:cNvSpPr>
          <p:nvPr>
            <p:ph idx="1"/>
          </p:nvPr>
        </p:nvSpPr>
        <p:spPr/>
        <p:txBody>
          <a:bodyPr/>
          <a:lstStyle/>
          <a:p>
            <a:pPr>
              <a:defRPr sz="1800"/>
            </a:pPr>
            <a:r>
              <a:t>Fehlt ein Wandanschluss, muss die Treppe Eigengewicht, Nutzlast und auftretende Seitenkräfte anders aufnehmen. Bei einer freistehenden oder offenen Holztreppe gehört deshalb die konstruktive Ausführung von Beginn an zur Grundrissplanung. Zu klären sind unter anderem die Verbindung der Stufen, die seitliche Abstützung und die sichere Befestigung am Geschoss. Auch der geplante Fußboden beeinflusst das Ergebnis, weil Höhe und Aufbau der Treppe auf den fertigen Boden abgestimmt werden müssen. Wird die Konstruktion erst nach der Raumgestaltung festgelegt, sind Änderungen an Deckenöffnung oder Brüstung häufig aufwendig. Ein früh abgestimmter Lastpf</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Freitragende Konstruktionen früh abstimmen</a:t>
            </a:r>
          </a:p>
        </p:txBody>
      </p:sp>
      <p:sp>
        <p:nvSpPr>
          <p:cNvPr id="3" name="Content Placeholder 2"/>
          <p:cNvSpPr>
            <a:spLocks noGrp="1"/>
          </p:cNvSpPr>
          <p:nvPr>
            <p:ph idx="1"/>
          </p:nvPr>
        </p:nvSpPr>
        <p:spPr/>
        <p:txBody>
          <a:bodyPr/>
          <a:lstStyle/>
          <a:p>
            <a:pPr>
              <a:defRPr sz="1800"/>
            </a:pPr>
            <a:r>
              <a:t>ad verhindert zudem, dass die sichtbare Treppe nachträglich mit zusätzlichen Bauteilen versehen werden muss.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Decke, Brüstung und Übergang gestalten</a:t>
            </a:r>
          </a:p>
        </p:txBody>
      </p:sp>
      <p:sp>
        <p:nvSpPr>
          <p:cNvPr id="3" name="Content Placeholder 2"/>
          <p:cNvSpPr>
            <a:spLocks noGrp="1"/>
          </p:cNvSpPr>
          <p:nvPr>
            <p:ph idx="1"/>
          </p:nvPr>
        </p:nvSpPr>
        <p:spPr/>
        <p:txBody>
          <a:bodyPr/>
          <a:lstStyle/>
          <a:p>
            <a:pPr>
              <a:defRPr sz="1800"/>
            </a:pPr>
            <a:r>
              <a:t>Die Treppenöffnung ist mehr als eine technische Voraussetzung. Ihre Brüstung bestimmt, wie offen der Geschosswechsel wirkt und wie der Blick zwischen den Ebenen geführt wird. Material, Höhe und Ausführung sollten deshalb mit Geländer, Handlauf und Treppenlauf abgestimmt werden. Geschlossene Wangen und sichtbare Setzstufen erzeugen einen massiveren Eindruck, während offene Zwischenräume mehr Licht durchlassen und die Treppe leichter erscheinen lassen. Auch der Anschluss an den Bodenbelag braucht Aufmerksamkeit: Eine saubere Lösung berücksichtigt Optik, Reinigung und den täglichen Übergang zwischen Treppe und Raum. So wird die Treppe nicht zum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Decke, Brüstung und Übergang gestalten</a:t>
            </a:r>
          </a:p>
        </p:txBody>
      </p:sp>
      <p:sp>
        <p:nvSpPr>
          <p:cNvPr id="3" name="Content Placeholder 2"/>
          <p:cNvSpPr>
            <a:spLocks noGrp="1"/>
          </p:cNvSpPr>
          <p:nvPr>
            <p:ph idx="1"/>
          </p:nvPr>
        </p:nvSpPr>
        <p:spPr/>
        <p:txBody>
          <a:bodyPr/>
          <a:lstStyle/>
          <a:p>
            <a:pPr>
              <a:defRPr sz="1800"/>
            </a:pPr>
            <a:r>
              <a:t>nachträglichen Möbel, sondern zu einem selbstverständlichen Teil des Grundrisses.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Licht und Schall in den Alltag prüfen</a:t>
            </a:r>
          </a:p>
        </p:txBody>
      </p:sp>
      <p:sp>
        <p:nvSpPr>
          <p:cNvPr id="3" name="Content Placeholder 2"/>
          <p:cNvSpPr>
            <a:spLocks noGrp="1"/>
          </p:cNvSpPr>
          <p:nvPr>
            <p:ph idx="1"/>
          </p:nvPr>
        </p:nvSpPr>
        <p:spPr/>
        <p:txBody>
          <a:bodyPr/>
          <a:lstStyle/>
          <a:p>
            <a:pPr>
              <a:defRPr sz="1800"/>
            </a:pPr>
            <a:r>
              <a:t>Eine offene Treppe ist in unterschiedlichen Tageszeiten und Beleuchtungssituationen nicht gleich wahrzunehmen. Holzfarbe, Oberfläche und die sichtbaren konstruktiven Details beeinflussen diese Wirkung deutlich. Sinnvoll ist deshalb, die Materialien unter verschiedenen Lichtverhältnissen zu betrachten und ihre Wirkung mit der übrigen Raumplanung abzugleichen. Auch akustische Folgen sind früh zu berücksichtigen: Trittschall kann in offenen Wohnbereichen weitertragen. Ob und wie eine schallmindernde Ausführung sinnvoll ist, hängt vom konkreten Aufbau und von den angrenzenden Flächen ab. Weitere Orientierung bietet der Beitrag zu Steigungsverhält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Licht und Schall in den Alltag prüfen</a:t>
            </a:r>
          </a:p>
        </p:txBody>
      </p:sp>
      <p:sp>
        <p:nvSpPr>
          <p:cNvPr id="3" name="Content Placeholder 2"/>
          <p:cNvSpPr>
            <a:spLocks noGrp="1"/>
          </p:cNvSpPr>
          <p:nvPr>
            <p:ph idx="1"/>
          </p:nvPr>
        </p:nvSpPr>
        <p:spPr/>
        <p:txBody>
          <a:bodyPr/>
          <a:lstStyle/>
          <a:p>
            <a:pPr>
              <a:defRPr sz="1800"/>
            </a:pPr>
            <a:r>
              <a:t>nis und Schrittmaß [Steigungsverhältnis und Schrittmaß bei Treppen]. Entscheidend bleibt die Abstimmung von Begehung, Konstruktion und Raumakustik statt einer isolierten Auswahl einzelner Bauteile.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Holztreppe als Gestaltungselement im offenen Grundriss</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