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berlin/treppenrenovierung-bestand-pruefen-und-ertuechtigen/" TargetMode="External"/><Relationship Id="rId3" Type="http://schemas.openxmlformats.org/officeDocument/2006/relationships/hyperlink" Target="https://holzundhaus.github.io/holztreppeberlin/dateien/minimax-695bd700689685e7ef9fa33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lohnt sich eine Treppenrenovierung – und wann nicht? · Erklärende Präsentation</a:t>
            </a:r>
          </a:p>
        </p:txBody>
      </p:sp>
      <p:sp>
        <p:nvSpPr>
          <p:cNvPr id="3" name="Content Placeholder 2"/>
          <p:cNvSpPr>
            <a:spLocks noGrp="1"/>
          </p:cNvSpPr>
          <p:nvPr>
            <p:ph idx="1"/>
          </p:nvPr>
        </p:nvSpPr>
        <p:spPr/>
        <p:txBody>
          <a:bodyPr/>
          <a:lstStyle/>
          <a:p>
            <a:r>
              <a:t>Überblick: Ob eine bestehende Holztreppe renoviert oder neu gebaut werden sollte, lässt sich nicht allein am sichtbaren Zustand ablesen. Entscheidend ist, ob tragende Bauteile, Maße und Anschlüsse erhalten bleiben können. Der folgende Leitfaden hilft, den Bestand strukturiert aufzunehmen, Renovierungsgrenzen zu erkennen und später ein nachvollziehbares Angebot einzuordnen.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Entscheidung erfassen</a:t>
            </a:r>
          </a:p>
        </p:txBody>
      </p:sp>
      <p:sp>
        <p:nvSpPr>
          <p:cNvPr id="3" name="Content Placeholder 2"/>
          <p:cNvSpPr>
            <a:spLocks noGrp="1"/>
          </p:cNvSpPr>
          <p:nvPr>
            <p:ph idx="1"/>
          </p:nvPr>
        </p:nvSpPr>
        <p:spPr/>
        <p:txBody>
          <a:bodyPr/>
          <a:lstStyle/>
          <a:p>
            <a:pPr>
              <a:defRPr sz="1800"/>
            </a:pPr>
            <a:r>
              <a:t>Beginnen Sie mit einer sachlichen Aufnahme der gesamten Treppe. Betrachten Sie Stufen, Wangen, Holm, Auflager, Geländer, Handlauf und die Übergänge zu Bodenbelag, Wänden und Treppenöffnung. Notieren Sie lose oder quietschende Verbindungen, ausgebrochene Trittflächen, abgenutzte Kanten, Risse, Verdrehungen oder Feuchtigkeitsschäden. Entscheidend ist außerdem, ob die Schäden lokal auftreten oder den gesamten Aufbau betreffen. Diese Bestandsaufnahme bildet die Grundlage für die Frage, welche Funktionen noch erfüllt sind und wo bereits ein baulicher Eingriff erforderlich wäre. Hilfreich ist der direkte Abgleich mit dem [Ratgeber zur Treppenrenovi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Entscheidung erfassen</a:t>
            </a:r>
          </a:p>
        </p:txBody>
      </p:sp>
      <p:sp>
        <p:nvSpPr>
          <p:cNvPr id="3" name="Content Placeholder 2"/>
          <p:cNvSpPr>
            <a:spLocks noGrp="1"/>
          </p:cNvSpPr>
          <p:nvPr>
            <p:ph idx="1"/>
          </p:nvPr>
        </p:nvSpPr>
        <p:spPr/>
        <p:txBody>
          <a:bodyPr/>
          <a:lstStyle/>
          <a:p>
            <a:pPr>
              <a:defRPr sz="1800"/>
            </a:pPr>
            <a:r>
              <a:t>erung](https://holzundhaus.github.io/holztreppeberlin/treppenrenovierung-bestand-pruefen-und-ertuechtigen/).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Geometrie unterscheiden</a:t>
            </a:r>
          </a:p>
        </p:txBody>
      </p:sp>
      <p:sp>
        <p:nvSpPr>
          <p:cNvPr id="3" name="Content Placeholder 2"/>
          <p:cNvSpPr>
            <a:spLocks noGrp="1"/>
          </p:cNvSpPr>
          <p:nvPr>
            <p:ph idx="1"/>
          </p:nvPr>
        </p:nvSpPr>
        <p:spPr/>
        <p:txBody>
          <a:bodyPr/>
          <a:lstStyle/>
          <a:p>
            <a:pPr>
              <a:defRPr sz="1800"/>
            </a:pPr>
            <a:r>
              <a:t>Eine Renovierung setzt voraus, dass der tragende Aufbau standsicher und maßhaltig bleibt. Hinweise auf Setzungen, schwingende Bereiche, beschädigte Auflager oder durchfeuchte Wangen lassen dagegen eine umfassendere Ertüchtigung erwarten. Ebenso wenig lässt sich ein zu steiles Steigungsverhältnis, ein schmaler Auftritt oder eine ungünstige Treppenöffnung durch eine neue Oberfläche korrigieren. Stellen Sie deshalb getrennt fest, welche Materialschäden behandelt werden können und welche räumlichen oder konstruktiven Eigenschaften verändert werden sollen. Soll die Treppengeometrie angepasst werden, führt dies in der Regel von der reinen Renovieru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Geometrie unterscheiden</a:t>
            </a:r>
          </a:p>
        </p:txBody>
      </p:sp>
      <p:sp>
        <p:nvSpPr>
          <p:cNvPr id="3" name="Content Placeholder 2"/>
          <p:cNvSpPr>
            <a:spLocks noGrp="1"/>
          </p:cNvSpPr>
          <p:nvPr>
            <p:ph idx="1"/>
          </p:nvPr>
        </p:nvSpPr>
        <p:spPr/>
        <p:txBody>
          <a:bodyPr/>
          <a:lstStyle/>
          <a:p>
            <a:pPr>
              <a:defRPr sz="1800"/>
            </a:pPr>
            <a:r>
              <a:t>ng weg. Bei Unsicherheit über Tragfähigkeit oder zulässige Ausführung sollte eine fachliche Prüfung die weitere Planung klären.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Pflege und Geländer bewerten</a:t>
            </a:r>
          </a:p>
        </p:txBody>
      </p:sp>
      <p:sp>
        <p:nvSpPr>
          <p:cNvPr id="3" name="Content Placeholder 2"/>
          <p:cNvSpPr>
            <a:spLocks noGrp="1"/>
          </p:cNvSpPr>
          <p:nvPr>
            <p:ph idx="1"/>
          </p:nvPr>
        </p:nvSpPr>
        <p:spPr/>
        <p:txBody>
          <a:bodyPr/>
          <a:lstStyle/>
          <a:p>
            <a:pPr>
              <a:defRPr sz="1800"/>
            </a:pPr>
            <a:r>
              <a:t>Nicht jede sichtbare Abnutzung bedeutet, dass die Treppe ausgetauscht werden muss. Tragfähige Stufen können neu aufgebaut, einzelne Trittflächen ersetzt und Verbindungen wieder befestigt werden. Entscheidend ist dabei das vorhandene Oberflächensystem: Öl und Lack lassen sich nicht gleich behandeln oder durch einen beliebigen anderen Anstrich ersetzen. Bei der Geländerprüfung gehören Pfosten, Befestigungen, Handlauf und Brüstung gemeinsam betrachtet. Lose Enden, Risse oder eine veränderliche Aufnahme beeinträchtigen die nutzbare Verbindung. Wird das Geländer erneuert, kann außerdem die Pfostenaufnahme betroffen sein. Der Zusammenhang zwischen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Pflege und Geländer bewerten</a:t>
            </a:r>
          </a:p>
        </p:txBody>
      </p:sp>
      <p:sp>
        <p:nvSpPr>
          <p:cNvPr id="3" name="Content Placeholder 2"/>
          <p:cNvSpPr>
            <a:spLocks noGrp="1"/>
          </p:cNvSpPr>
          <p:nvPr>
            <p:ph idx="1"/>
          </p:nvPr>
        </p:nvSpPr>
        <p:spPr/>
        <p:txBody>
          <a:bodyPr/>
          <a:lstStyle/>
          <a:p>
            <a:pPr>
              <a:defRPr sz="1800"/>
            </a:pPr>
            <a:r>
              <a:t>Holz, Oberfläche und Pflege ist im [Pflege-Ratgeber für Holztreppen](https://holzundhaus.github.io/holztreppeberlin/treppenrenovierung-bestand-pruefen-und-ertuechtigen/) zusammengefasst.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Renovierung oder Neubau abgrenzen</a:t>
            </a:r>
          </a:p>
        </p:txBody>
      </p:sp>
      <p:sp>
        <p:nvSpPr>
          <p:cNvPr id="3" name="Content Placeholder 2"/>
          <p:cNvSpPr>
            <a:spLocks noGrp="1"/>
          </p:cNvSpPr>
          <p:nvPr>
            <p:ph idx="1"/>
          </p:nvPr>
        </p:nvSpPr>
        <p:spPr/>
        <p:txBody>
          <a:bodyPr/>
          <a:lstStyle/>
          <a:p>
            <a:pPr>
              <a:defRPr sz="1800"/>
            </a:pPr>
            <a:r>
              <a:t>Eine Renovierung kann intakte Trittflächen neu ausstatten, einzelne Stufen ersetzen, tragfähige Verbindungen befestigen oder ein Geländer auf geeignetem Untergrund erneuern. Sie kann jedoch keine grundlegende Änderung von Steigung, Auftrittsbreite oder Treppenöffnung bewirken, statische Probleme des Tragwerks beseitigen oder Feuchtigkeitsschäden ohne Ursachenbehebung beheben. Stellen Sie deshalb die gewünschte Veränderung dem tatsächlich möglichen Leistungsumfang gegenüber. Wird aus einem oberflächlichen Eingriff eine Arbeit an Wangen, Auflagern, Anschlüssen und angrenzenden Bauteilen, sollte das gesamte Vorhaben neu bewertet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verständlich vergleichen</a:t>
            </a:r>
          </a:p>
        </p:txBody>
      </p:sp>
      <p:sp>
        <p:nvSpPr>
          <p:cNvPr id="3" name="Content Placeholder 2"/>
          <p:cNvSpPr>
            <a:spLocks noGrp="1"/>
          </p:cNvSpPr>
          <p:nvPr>
            <p:ph idx="1"/>
          </p:nvPr>
        </p:nvSpPr>
        <p:spPr/>
        <p:txBody>
          <a:bodyPr/>
          <a:lstStyle/>
          <a:p>
            <a:pPr>
              <a:defRPr sz="1800"/>
            </a:pPr>
            <a:r>
              <a:t>Achten Sie darauf, dass ein Angebot Demontage, vorbereitende Arbeiten am Bestand und die eigentliche Ertüchtigung getrennt ausweist. Nur dadurch wird erkennbar, welche Arbeiten am vorhandenen Bauwerk erforderlich sind und wo zusätzlicher Aufwand entsteht. Hilfreiche Rückfragen lauten: Welche Bauteile sind nachweisbar tragfähig? Welche Eigenschaften sollen verändert werden, und lässt sich das durch eine Renovierung erreichen? Welche Anschlüsse wären zusätzlich betroffen? So lässt sich eine Renovierung fundiert mit einem Neubau vergleichen, ohne dass eine neue Oberfläche mögliche Substanzprobleme verdeckt.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lohnt sich eine Treppenrenovierung – und wann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