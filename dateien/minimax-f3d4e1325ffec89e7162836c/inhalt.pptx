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treppeberlin.wordpress.com/2026/10/23/holztreppe-im-offenen-grundriss-form-anschluss-und-raumwirkung-verbinden/" TargetMode="External"/><Relationship Id="rId3" Type="http://schemas.openxmlformats.org/officeDocument/2006/relationships/hyperlink" Target="https://holzundhaus.github.io/holztreppeberlin/dateien/minimax-f3d4e1325ffec89e7162836c/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Holztreppe im offenen Grundriss: Form, Anschluss und Raumwirkung verbinden · Erklärende Präsentation</a:t>
            </a:r>
          </a:p>
        </p:txBody>
      </p:sp>
      <p:sp>
        <p:nvSpPr>
          <p:cNvPr id="3" name="Content Placeholder 2"/>
          <p:cNvSpPr>
            <a:spLocks noGrp="1"/>
          </p:cNvSpPr>
          <p:nvPr>
            <p:ph idx="1"/>
          </p:nvPr>
        </p:nvSpPr>
        <p:spPr/>
        <p:txBody>
          <a:bodyPr/>
          <a:lstStyle/>
          <a:p>
            <a:r>
              <a:t>Überblick: Eine Holztreppe im offenen Grundriss ist zugleich Verkehrsweg, Raumkante und sichtbares Bauteil. Ihre Planung beginnt daher nicht mit der Auswahl eines Geländers, sondern mit der Frage, wie Treppenöffnung, Geschosshöhe, Laufweg und angrenzende Materialien zusammenpassen. Dieser Beitrag strukturiert die wichtigsten Entscheidungen für die spätere Anfrage und ergänzt allgemeine Übersichten um einen konkreten Planungsablauf. Die [weiterführende Orientierung zu Holztreppen im offenen Grundriss](https://holztreppeberlin.wordpress.com/2026/10/23/holztreppe-im-offenen-grundriss-form-anschluss-und-raumwirkung-verbinden/) bietet ergänzende 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Mit Öffnung, Geschoss und Verkehrsweg beginnen</a:t>
            </a:r>
          </a:p>
        </p:txBody>
      </p:sp>
      <p:sp>
        <p:nvSpPr>
          <p:cNvPr id="3" name="Content Placeholder 2"/>
          <p:cNvSpPr>
            <a:spLocks noGrp="1"/>
          </p:cNvSpPr>
          <p:nvPr>
            <p:ph idx="1"/>
          </p:nvPr>
        </p:nvSpPr>
        <p:spPr/>
        <p:txBody>
          <a:bodyPr/>
          <a:lstStyle/>
          <a:p>
            <a:pPr>
              <a:defRPr sz="1800"/>
            </a:pPr>
            <a:r>
              <a:t>Im Grundriss ist zuerst der verfügbare Raum entscheidend: Wo liegt die Öffnung in der Decke, welche Geschosshöhe liegt zwischen den fertigen Fußböden, und welche Wege müssen unten und oben funktionieren? Im Neubau lässt sich die Treppenöffnung meist früh mitplanen. Im Bestand sind dagegen Decke, Türen, Wände und bestehende Verkehrswege der Ausgangspunkt. Antritt und Austritt sollten gemeinsam betrachtet werden, damit die Treppe nicht nur auf dem Papier in den Raum passt, sondern auch im Alltag sinnvoll nutzbar bleibt. Besonders wichtig ist, welche Flächen frei bleiben müssen und ob die Treppe seitlich in Wohn- oder Arbeitsbereiche hineinwirkt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Mit Öffnung, Geschoss und Verkehrsweg beginnen</a:t>
            </a:r>
          </a:p>
        </p:txBody>
      </p:sp>
      <p:sp>
        <p:nvSpPr>
          <p:cNvPr id="3" name="Content Placeholder 2"/>
          <p:cNvSpPr>
            <a:spLocks noGrp="1"/>
          </p:cNvSpPr>
          <p:nvPr>
            <p:ph idx="1"/>
          </p:nvPr>
        </p:nvSpPr>
        <p:spPr/>
        <p:txBody>
          <a:bodyPr/>
          <a:lstStyle/>
          <a:p>
            <a:pPr>
              <a:defRPr sz="1800"/>
            </a:pPr>
            <a:r>
              <a:t>. Pauschale Mindestmaße ersetzen dabei keine Prüfung des konkreten Grundrisses.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Treppentypen nach Raumwirkung auswählen</a:t>
            </a:r>
          </a:p>
        </p:txBody>
      </p:sp>
      <p:sp>
        <p:nvSpPr>
          <p:cNvPr id="3" name="Content Placeholder 2"/>
          <p:cNvSpPr>
            <a:spLocks noGrp="1"/>
          </p:cNvSpPr>
          <p:nvPr>
            <p:ph idx="1"/>
          </p:nvPr>
        </p:nvSpPr>
        <p:spPr/>
        <p:txBody>
          <a:bodyPr/>
          <a:lstStyle/>
          <a:p>
            <a:pPr>
              <a:defRPr sz="1800"/>
            </a:pPr>
            <a:r>
              <a:t>Die Form entscheidet darüber, wie die Treppe den offenen Raum ordnet. Eine gerade Treppe führt ohne Richtungswechsel nach oben und wirkt eindeutig. Eine gewendelte Treppe nutzt keilförmige Stufen, um den Richtungswechsel auf begrenzter Fläche zu vollziehen. Eine Podesttreppe verbindet zwei Läufe über eine Zwischenfläche und schafft im Verlauf einen klaren Ruhepunkt. Welche Variante passt, hängt von Öffnung, Platz und gewünschter Nutzung ab. Da die Treppe im offenen Grundriss zugleich Raumkante, Sichtachse und akustischer Zusammenhang sein kann, sollte ihre Form nicht allein nach Kompaktheit beurteilt werden. Auch die Blickbeziehungen zwischen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Treppentypen nach Raumwirkung auswählen</a:t>
            </a:r>
          </a:p>
        </p:txBody>
      </p:sp>
      <p:sp>
        <p:nvSpPr>
          <p:cNvPr id="3" name="Content Placeholder 2"/>
          <p:cNvSpPr>
            <a:spLocks noGrp="1"/>
          </p:cNvSpPr>
          <p:nvPr>
            <p:ph idx="1"/>
          </p:nvPr>
        </p:nvSpPr>
        <p:spPr/>
        <p:txBody>
          <a:bodyPr/>
          <a:lstStyle/>
          <a:p>
            <a:pPr>
              <a:defRPr sz="1800"/>
            </a:pPr>
            <a:r>
              <a:t> unten und oben sowie die Anordnung von Türen und Deckenbereichen gehören in diese frühe Entscheidung.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Holzart, Oberfläche und Raumklima abstimmen</a:t>
            </a:r>
          </a:p>
        </p:txBody>
      </p:sp>
      <p:sp>
        <p:nvSpPr>
          <p:cNvPr id="3" name="Content Placeholder 2"/>
          <p:cNvSpPr>
            <a:spLocks noGrp="1"/>
          </p:cNvSpPr>
          <p:nvPr>
            <p:ph idx="1"/>
          </p:nvPr>
        </p:nvSpPr>
        <p:spPr/>
        <p:txBody>
          <a:bodyPr/>
          <a:lstStyle/>
          <a:p>
            <a:pPr>
              <a:defRPr sz="1800"/>
            </a:pPr>
            <a:r>
              <a:t>Bei einer sichtbaren Treppe ist die Oberfläche ein zentraler Teil der Gestaltung. Eiche, Buche und Esche unterscheiden sich in Maserung, Farbwirkung und Reaktion auf Feuchtigkeit. Neben der Holzart steht die Entscheidung für geölte oder lackierte Oberflächen. Sie beeinflusst Reinigung und spätere Nachbehandlung und sollte deshalb gemeinsam mit der Nutzung und Pflege geklärt werden. Holz reagiert auf Veränderungen der Raumfeuchtigkeit. Das Raumklima ist daher nicht erst nach der Montage relevant, sondern gehört bei der Materialwahl mitgedacht. Ebenso sinnvoll ist zu prüfen, ob ein sichtbarer Treppenauftritt mit dem übrigen Innenausbau harmonie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Holzart, Oberfläche und Raumklima abstimmen</a:t>
            </a:r>
          </a:p>
        </p:txBody>
      </p:sp>
      <p:sp>
        <p:nvSpPr>
          <p:cNvPr id="3" name="Content Placeholder 2"/>
          <p:cNvSpPr>
            <a:spLocks noGrp="1"/>
          </p:cNvSpPr>
          <p:nvPr>
            <p:ph idx="1"/>
          </p:nvPr>
        </p:nvSpPr>
        <p:spPr/>
        <p:txBody>
          <a:bodyPr/>
          <a:lstStyle/>
          <a:p>
            <a:pPr>
              <a:defRPr sz="1800"/>
            </a:pPr>
            <a:r>
              <a:t>ren soll oder ob eine ruhigere, zurückhaltendere Lösung gewünscht ist.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Anschlüsse und Ausstattung früh einplanen</a:t>
            </a:r>
          </a:p>
        </p:txBody>
      </p:sp>
      <p:sp>
        <p:nvSpPr>
          <p:cNvPr id="3" name="Content Placeholder 2"/>
          <p:cNvSpPr>
            <a:spLocks noGrp="1"/>
          </p:cNvSpPr>
          <p:nvPr>
            <p:ph idx="1"/>
          </p:nvPr>
        </p:nvSpPr>
        <p:spPr/>
        <p:txBody>
          <a:bodyPr/>
          <a:lstStyle/>
          <a:p>
            <a:pPr>
              <a:defRPr sz="1800"/>
            </a:pPr>
            <a:r>
              <a:t>Am unteren Antritt und am oberen Austritt trifft die Treppe auf andere Bodenbeläge. Der Übergang sollte bereits bei der Planung von Treppenform, Belägen und Anschlussprofil berücksichtigt werden. Auch die Brüstung an der Deckenöffnung ist ein eigenes Bauteil; sie darf nicht als selbstverständlich vorausgesetzt werden. Geländer und Handlauf prägen im offenen Wohnumfeld den Eindruck deutlich stärker als in einem geschlossenen Treppenhaus. Deshalb sollten Form, Material und Ausstattung in der Anfrage ausdrücklich beschrieben werden. Vor der Kontaktaufnahme helfen Angaben zu Geschosshöhe, ungefährer Öffnung, gewünschter Treppenrichtung, vorhanden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Anschlüsse und Ausstattung früh einplanen</a:t>
            </a:r>
          </a:p>
        </p:txBody>
      </p:sp>
      <p:sp>
        <p:nvSpPr>
          <p:cNvPr id="3" name="Content Placeholder 2"/>
          <p:cNvSpPr>
            <a:spLocks noGrp="1"/>
          </p:cNvSpPr>
          <p:nvPr>
            <p:ph idx="1"/>
          </p:nvPr>
        </p:nvSpPr>
        <p:spPr/>
        <p:txBody>
          <a:bodyPr/>
          <a:lstStyle/>
          <a:p>
            <a:pPr>
              <a:defRPr sz="1800"/>
            </a:pPr>
            <a:r>
              <a:t>en Bauteilen sowie dazu, ob es sich um Neubau, Ersatz oder eine Prüfung bestehender Treppen handelt. Pläne oder Fotos können den Projektstand ergänzen; konkrete rechtliche Anforderungen müssen standortbezogen geklärt werden. Weitere [Hinweise zur Vorbereitung einer Projektanfrage](https://holztreppeberlin.wordpress.com/2026/10/23/holztreppe-im-offenen-grundriss-form-anschluss-und-raumwirkung-verbinden/) finden sich im begleitenden Ratgeber.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Holztreppe im offenen Grundriss: Form, Anschluss und Raumwirkung verbinden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