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treppeberlin.blogspot.com/2026/10/gelander-und-handlauf-holztreppen.html" TargetMode="External"/><Relationship Id="rId3" Type="http://schemas.openxmlformats.org/officeDocument/2006/relationships/hyperlink" Target="https://holzundhaus.github.io/holztreppeberlin/dateien/minimax-27698ad2cea3d958d67aa35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Geländer und Handlauf an Holztreppen: Rahmenbedingungen sinnvoll einordnen · Erklärende Präsentation</a:t>
            </a:r>
          </a:p>
        </p:txBody>
      </p:sp>
      <p:sp>
        <p:nvSpPr>
          <p:cNvPr id="3" name="Content Placeholder 2"/>
          <p:cNvSpPr>
            <a:spLocks noGrp="1"/>
          </p:cNvSpPr>
          <p:nvPr>
            <p:ph idx="1"/>
          </p:nvPr>
        </p:nvSpPr>
        <p:spPr/>
        <p:txBody>
          <a:bodyPr/>
          <a:lstStyle/>
          <a:p>
            <a:r>
              <a:t>Überblick: Geländer und Handlauf prägen den Alltag einer Holztreppe stärker, als es auf den ersten Blick scheint. Sie beeinflussen Sicherheit, Komfort und das Erscheinungsbild und sollten deshalb bereits bei der ersten Planung berücksichtigt werden. Der folgende Leitfaden ordnet die zentralen Rahmenbedingungen ein und zeigt, welche gestalterischen und konstruktiven Fragen anschließend zu klären sind.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Geländer und Handlauf zusammengedacht gehören</a:t>
            </a:r>
          </a:p>
        </p:txBody>
      </p:sp>
      <p:sp>
        <p:nvSpPr>
          <p:cNvPr id="3" name="Content Placeholder 2"/>
          <p:cNvSpPr>
            <a:spLocks noGrp="1"/>
          </p:cNvSpPr>
          <p:nvPr>
            <p:ph idx="1"/>
          </p:nvPr>
        </p:nvSpPr>
        <p:spPr/>
        <p:txBody>
          <a:bodyPr/>
          <a:lstStyle/>
          <a:p>
            <a:pPr>
              <a:defRPr sz="1800"/>
            </a:pPr>
            <a:r>
              <a:t>Das Geländer begrenzt die offene Seite einer Treppe und schützt vor einem seitlichen Absturz. Der Handlauf bietet entlang des Treppenlaufs eine Greifmöglichkeit für Erwachsene und Kinder. Beide Bauteile erfüllen unterschiedliche Aufgaben, wirken aber im Alltag zusammen. Form, Material, Befestigung und Linienführung sollten daher nicht erst nach der Festlegung der Treppe entschieden werden. Wer Geländerhöhe, Öffnungsweiten und Handlauf früh berücksichtigt, kann den Laufweg, die Stufentiefen sowie die notwendigen Anschlüsse an Wände, Decke und Brüstung besser aufeinander abstimmen.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wichtigsten Rahmenwerte verstehen</a:t>
            </a:r>
          </a:p>
        </p:txBody>
      </p:sp>
      <p:sp>
        <p:nvSpPr>
          <p:cNvPr id="3" name="Content Placeholder 2"/>
          <p:cNvSpPr>
            <a:spLocks noGrp="1"/>
          </p:cNvSpPr>
          <p:nvPr>
            <p:ph idx="1"/>
          </p:nvPr>
        </p:nvSpPr>
        <p:spPr/>
        <p:txBody>
          <a:bodyPr/>
          <a:lstStyle/>
          <a:p>
            <a:pPr>
              <a:defRPr sz="1800"/>
            </a:pPr>
            <a:r>
              <a:t>Bei Geländerhöhe, Öffnungsweiten und Handlauf geht es zunächst um Mindestmaße, die als Rahmen vorgegeben sind. Innerhalb dieses Rahmens bleiben konkrete Entscheidungen: Welche Holzart passt zur Treppe, soll der Handlauf aufgesetzt oder durchgehend geführt werden und wie wird der Übergang zu einer Brüstung an der Deckenöffnung gestaltet? Die Geländerhöhe wird dabei als Abstand zwischen der Stufenvorderkante und der Oberkante des Geländers eingeordnet. Sie ist entlang der gesamten Treppe wichtig, einschließlich von Podesten und angrenzender Brüstungen. Ein später aufgebrachter Bodenbelag kann die Bezugslinie beeinflussen, sollte also früh in di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wichtigsten Rahmenwerte verstehen</a:t>
            </a:r>
          </a:p>
        </p:txBody>
      </p:sp>
      <p:sp>
        <p:nvSpPr>
          <p:cNvPr id="3" name="Content Placeholder 2"/>
          <p:cNvSpPr>
            <a:spLocks noGrp="1"/>
          </p:cNvSpPr>
          <p:nvPr>
            <p:ph idx="1"/>
          </p:nvPr>
        </p:nvSpPr>
        <p:spPr/>
        <p:txBody>
          <a:bodyPr/>
          <a:lstStyle/>
          <a:p>
            <a:pPr>
              <a:defRPr sz="1800"/>
            </a:pPr>
            <a:r>
              <a:t>e Planung einfließen.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Öffnungsweiten und die Gestaltung des Geländers</a:t>
            </a:r>
          </a:p>
        </p:txBody>
      </p:sp>
      <p:sp>
        <p:nvSpPr>
          <p:cNvPr id="3" name="Content Placeholder 2"/>
          <p:cNvSpPr>
            <a:spLocks noGrp="1"/>
          </p:cNvSpPr>
          <p:nvPr>
            <p:ph idx="1"/>
          </p:nvPr>
        </p:nvSpPr>
        <p:spPr/>
        <p:txBody>
          <a:bodyPr/>
          <a:lstStyle/>
          <a:p>
            <a:pPr>
              <a:defRPr sz="1800"/>
            </a:pPr>
            <a:r>
              <a:t>Die Öffnungsweiten bezeichnen Abstände zwischen senkrechten Geländerteilen oder zwischen Geländer und anderen Treppenteilen. Sie sollen verhindern, dass kleine Kinder den Kopf hindurchstecken oder den Halt verlieren. Eine dichtere Ausführung kann die Sicherheit unterstützen, verändert aber zugleich die optische Wirkung. Zu klären ist daher unter anderem, ob ein Stabgeländer, waagerechte Sprossen oder eine Füllung bevorzugt wird. Ebenso wichtig sind der Beginn und das Ende der Geländerlinie, die Position an Wänden und Podesten sowie die treatment des unteren Spalts zwischen Stufe und Geländer.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Handlauf: durchgehend greifbar und passend zur Oberfläche</a:t>
            </a:r>
          </a:p>
        </p:txBody>
      </p:sp>
      <p:sp>
        <p:nvSpPr>
          <p:cNvPr id="3" name="Content Placeholder 2"/>
          <p:cNvSpPr>
            <a:spLocks noGrp="1"/>
          </p:cNvSpPr>
          <p:nvPr>
            <p:ph idx="1"/>
          </p:nvPr>
        </p:nvSpPr>
        <p:spPr/>
        <p:txBody>
          <a:bodyPr/>
          <a:lstStyle/>
          <a:p>
            <a:pPr>
              <a:defRPr sz="1800"/>
            </a:pPr>
            <a:r>
              <a:t>Der Handlauf gehört zu den am häufigsten genutzten Bauteilen einer Holztreppe und wird im Alltag selten bewusst wahrgenommen. Er sollte durchgehend greifbar sein und eine angenehme Form haben. Bei der Planung spielen die Linienführung über Geschosse, kurze Versätze an Podesten und Ecken sowie der Anschluss an Wände, Pfosten oder Brüstungen eine Rolle. Auch Holzart, Querschnitt und Oberfläche müssen zur Treppe passen. Lackierte und geölte Oberflächen werden unterschiedlich behandelt. Da Handlauf und Geländer ständig berührt werden, ist die passende Pflege von Anfang an mitzudenken, damit die gewählte Holzbehandlung auch im Alltag praktikabel 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Handlauf: durchgehend greifbar und passend zur Oberfläche</a:t>
            </a:r>
          </a:p>
        </p:txBody>
      </p:sp>
      <p:sp>
        <p:nvSpPr>
          <p:cNvPr id="3" name="Content Placeholder 2"/>
          <p:cNvSpPr>
            <a:spLocks noGrp="1"/>
          </p:cNvSpPr>
          <p:nvPr>
            <p:ph idx="1"/>
          </p:nvPr>
        </p:nvSpPr>
        <p:spPr/>
        <p:txBody>
          <a:bodyPr/>
          <a:lstStyle/>
          <a:p>
            <a:pPr>
              <a:defRPr sz="1800"/>
            </a:pPr>
            <a:r>
              <a:t>leibt.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Angebote verständlich machen sollten</a:t>
            </a:r>
          </a:p>
        </p:txBody>
      </p:sp>
      <p:sp>
        <p:nvSpPr>
          <p:cNvPr id="3" name="Content Placeholder 2"/>
          <p:cNvSpPr>
            <a:spLocks noGrp="1"/>
          </p:cNvSpPr>
          <p:nvPr>
            <p:ph idx="1"/>
          </p:nvPr>
        </p:nvSpPr>
        <p:spPr/>
        <p:txBody>
          <a:bodyPr/>
          <a:lstStyle/>
          <a:p>
            <a:pPr>
              <a:defRPr sz="1800"/>
            </a:pPr>
            <a:r>
              <a:t>Für einen Vergleich von Angeboten ist eine klare Beschreibung besonders hilfreich. Geländerhöhe, Öffnungsweiten und Handlaufhöhe sollten als benannte Maße aufgeführt werden und nicht nur unter dem Begriff „normgerecht“ erscheinen. Material und Oberfläche von Geländer und Handlauf gehören getrennt von der übrigen Treppe ausgewiesen. Außerdem sollten die Anschlüsse an Wand, Decke und Brüstung nachvollziehbar beschrieben sein. So lässt sich besser erkennen, ob ein Angebot die gewünschte Konstruktion tatsächlich berücksichtigt. Wer sich vorab mit den offenen Fragen beschäftigt, kann das Vorhaben strukturiert schildern und die Planung gemeinsam mi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Angebote verständlich machen sollten</a:t>
            </a:r>
          </a:p>
        </p:txBody>
      </p:sp>
      <p:sp>
        <p:nvSpPr>
          <p:cNvPr id="3" name="Content Placeholder 2"/>
          <p:cNvSpPr>
            <a:spLocks noGrp="1"/>
          </p:cNvSpPr>
          <p:nvPr>
            <p:ph idx="1"/>
          </p:nvPr>
        </p:nvSpPr>
        <p:spPr/>
        <p:txBody>
          <a:bodyPr/>
          <a:lstStyle/>
          <a:p>
            <a:pPr>
              <a:defRPr sz="1800"/>
            </a:pPr>
            <a:r>
              <a:t>t dem Betrieb auf Augenhöhe besprechen.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Geländer und Handlauf an Holztreppen: Rahmenbedingungen sinnvoll einordnen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