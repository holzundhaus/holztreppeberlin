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treppeberlin.blogspot.com/2026/10/holztreppe-im-berliner-altbau-worauf.html" TargetMode="External"/><Relationship Id="rId3" Type="http://schemas.openxmlformats.org/officeDocument/2006/relationships/hyperlink" Target="https://holzundhaus.github.io/holztreppeberlin/dateien/minimax-cc3d6697a5a9ef6cbc3f417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Holztreppe im Berliner Altbau: Worauf Bestand und Grundriss hinweisen · Erklärende Präsentation</a:t>
            </a:r>
          </a:p>
        </p:txBody>
      </p:sp>
      <p:sp>
        <p:nvSpPr>
          <p:cNvPr id="3" name="Content Placeholder 2"/>
          <p:cNvSpPr>
            <a:spLocks noGrp="1"/>
          </p:cNvSpPr>
          <p:nvPr>
            <p:ph idx="1"/>
          </p:nvPr>
        </p:nvSpPr>
        <p:spPr/>
        <p:txBody>
          <a:bodyPr/>
          <a:lstStyle/>
          <a:p>
            <a:r>
              <a:t>Überblick: Eine Holztreppe für einen Berliner Altbau beginnt nicht mit der Wunschform, sondern mit dem vorhandenen Gebäude. Öffnung, Decke, Verkehrswege und Anschlüsse bestimmen, welche Ausführung überhaupt möglich ist. Dieser Leitfaden zeigt, wie Sie den Bestand strukturiert erfassen und welche Angaben für eine belastbare Planung vorliegen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Planung beginnt mit einer Bestandsaufnahme</a:t>
            </a:r>
          </a:p>
        </p:txBody>
      </p:sp>
      <p:sp>
        <p:nvSpPr>
          <p:cNvPr id="3" name="Content Placeholder 2"/>
          <p:cNvSpPr>
            <a:spLocks noGrp="1"/>
          </p:cNvSpPr>
          <p:nvPr>
            <p:ph idx="1"/>
          </p:nvPr>
        </p:nvSpPr>
        <p:spPr/>
        <p:txBody>
          <a:bodyPr/>
          <a:lstStyle/>
          <a:p>
            <a:pPr>
              <a:defRPr sz="1800"/>
            </a:pPr>
            <a:r>
              <a:t>Im Altbau müssen Decken, Wände, Treppenöffnungen und Anschlüsse berücksichtigt werden, bevor die Treppenform feststeht. Entscheidend ist daher die Reihenfolge: Erst Geometrie und konstruktive Rahmenbedingungen erfassen, dann gerade, gewendelte oder Podesttreppe vergleichen. Ein genauer Grundriss und ein vollständiges Aufmaß bilden die Grundlage. Pauschale Mindestmaße oder allgemeine Formbeispiele ersetzen diese Prüfung nicht. Hilfreich ist, erkennbare Veränderungen der Räume und der bisherigen Treppe bereits in der Vorbereitung zu dokumentieren.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und Treppenöffnung gemeinsam beurteilen</a:t>
            </a:r>
          </a:p>
        </p:txBody>
      </p:sp>
      <p:sp>
        <p:nvSpPr>
          <p:cNvPr id="3" name="Content Placeholder 2"/>
          <p:cNvSpPr>
            <a:spLocks noGrp="1"/>
          </p:cNvSpPr>
          <p:nvPr>
            <p:ph idx="1"/>
          </p:nvPr>
        </p:nvSpPr>
        <p:spPr/>
        <p:txBody>
          <a:bodyPr/>
          <a:lstStyle/>
          <a:p>
            <a:pPr>
              <a:defRPr sz="1800"/>
            </a:pPr>
            <a:r>
              <a:t>Rund um eine Treppenöffnung wirken Verkehrslasten und die Lasten der Treppe auf die vorhandene Deckenkonstruktion. Holzbalkendecken, Massivdecken und Mischkonstruktionen verhalten sich unterschiedlich; nachträglich veränderte Öffnungen können die Situation zusätzlich beeinflussen. Eine belastbare Beurteilung ist deshalb nur vor Ort möglich. Zur Dokumentation gehören die Bauweise der Decke, sichtbare Risse oder Verformungen sowie die geplante Nutzung, etwa eine Wohnung, Maisonette oder vermietete Geschosse. Auch Erwartungen an Schallschutz und Trittschalldämmung sollten früh geklärt werden, damit die technische Lösung nicht nur die Treppe berü</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Decke und Treppenöffnung gemeinsam beurteilen</a:t>
            </a:r>
          </a:p>
        </p:txBody>
      </p:sp>
      <p:sp>
        <p:nvSpPr>
          <p:cNvPr id="3" name="Content Placeholder 2"/>
          <p:cNvSpPr>
            <a:spLocks noGrp="1"/>
          </p:cNvSpPr>
          <p:nvPr>
            <p:ph idx="1"/>
          </p:nvPr>
        </p:nvSpPr>
        <p:spPr/>
        <p:txBody>
          <a:bodyPr/>
          <a:lstStyle/>
          <a:p>
            <a:pPr>
              <a:defRPr sz="1800"/>
            </a:pPr>
            <a:r>
              <a:t>cksichtigt.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Unregelmäßige Öffnungen richtig einordnen</a:t>
            </a:r>
          </a:p>
        </p:txBody>
      </p:sp>
      <p:sp>
        <p:nvSpPr>
          <p:cNvPr id="3" name="Content Placeholder 2"/>
          <p:cNvSpPr>
            <a:spLocks noGrp="1"/>
          </p:cNvSpPr>
          <p:nvPr>
            <p:ph idx="1"/>
          </p:nvPr>
        </p:nvSpPr>
        <p:spPr/>
        <p:txBody>
          <a:bodyPr/>
          <a:lstStyle/>
          <a:p>
            <a:pPr>
              <a:defRPr sz="1800"/>
            </a:pPr>
            <a:r>
              <a:t>In Berliner Altbauten sind Treppenöffnungen häufig schmaler, versprungen oder durch eine Nische geprägt. Dadurch können Antritt und Austritt von einer geraden Treppe abweichen. Eine gewendelte Treppe nutzt keilförmige Stufen, um innerhalb einer begrenzten Öffnung die Richtung zu wechseln. Eine Podesttreppe verbindet zwei Läufe über eine Zwischenfläche und kann sinnvoll sein, wenn oben oder unten kein gerader Lauf möglich ist. Welche Variante passt, hängt vom konkreten Aufmaß ab. Zu erfassen sind deshalb Wandschrägen, Nischen, unterschiedliche Wandabstände sowie vorhandene Brüstungs- und Türöffnungen.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Verkehrswege statt reiner Treppengeometrie</a:t>
            </a:r>
          </a:p>
        </p:txBody>
      </p:sp>
      <p:sp>
        <p:nvSpPr>
          <p:cNvPr id="3" name="Content Placeholder 2"/>
          <p:cNvSpPr>
            <a:spLocks noGrp="1"/>
          </p:cNvSpPr>
          <p:nvPr>
            <p:ph idx="1"/>
          </p:nvPr>
        </p:nvSpPr>
        <p:spPr/>
        <p:txBody>
          <a:bodyPr/>
          <a:lstStyle/>
          <a:p>
            <a:pPr>
              <a:defRPr sz="1800"/>
            </a:pPr>
            <a:r>
              <a:t>Ein gewachsener Grundriss verändert die Anforderungen an die Treppe. Räume wurden neu aufgeteilt, Durchgänge geschlossen oder Wände versetzt. Früher selbstverständliche Wege müssen heute zur aktuellen Nutzung passen. Skizzieren Sie deshalb, welche Räume oben und unten angrenzen, wo der Antritt liegt, welche Tür gegenüber liegt und wie der Austritt in den Raum führt. Berücksichtigen Sie auch die Lichtverhältnisse und die Lage im Flur, Wohnraum oder Treppenhaus. So lässt sich erkennen, ob ein Podest den Übergang ordnet, ein Richtungswechsel sinnvoll ist oder eine andere Position den Alltag erleichtert.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und Bauteile früh einbeziehen</a:t>
            </a:r>
          </a:p>
        </p:txBody>
      </p:sp>
      <p:sp>
        <p:nvSpPr>
          <p:cNvPr id="3" name="Content Placeholder 2"/>
          <p:cNvSpPr>
            <a:spLocks noGrp="1"/>
          </p:cNvSpPr>
          <p:nvPr>
            <p:ph idx="1"/>
          </p:nvPr>
        </p:nvSpPr>
        <p:spPr/>
        <p:txBody>
          <a:bodyPr/>
          <a:lstStyle/>
          <a:p>
            <a:pPr>
              <a:defRPr sz="1800"/>
            </a:pPr>
            <a:r>
              <a:t>Eine Holztreppe endet nicht mit der letzten Stufe. Wände, Brüstungen, Geländer, Handlauf, Bodenbeläge sowie Sockel- und Wandanschlüsse beeinflussen Konstruktion und Ausführung. Im Altbau treffen häufig Dielen auf Estrich, Putz auf Sichtmauerwerk oder eine alte Brüstung auf ein neues Geländer. Offene und geschlossene Seiten benötigen unterschiedliche Lösungen: An einer offenen Seite ist das Geländer entsprechend auszubilden; an einer geschlossenen Seite ist der Zustand der Wand für die Befestigung wichtig. Die Brüstung an der Deckenöffnung und die Anschlüsse oben und unten sollten deshalb in dieselbe Planung einbezogen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aussagekräftige Unterlage für die Anfrage</a:t>
            </a:r>
          </a:p>
        </p:txBody>
      </p:sp>
      <p:sp>
        <p:nvSpPr>
          <p:cNvPr id="3" name="Content Placeholder 2"/>
          <p:cNvSpPr>
            <a:spLocks noGrp="1"/>
          </p:cNvSpPr>
          <p:nvPr>
            <p:ph idx="1"/>
          </p:nvPr>
        </p:nvSpPr>
        <p:spPr/>
        <p:txBody>
          <a:bodyPr/>
          <a:lstStyle/>
          <a:p>
            <a:pPr>
              <a:defRPr sz="1800"/>
            </a:pPr>
            <a:r>
              <a:t>Eine gute Anfrage beschreibt nicht nur die gewünschte Treppenform, sondern den tatsächlichen Ausgangszustand. Nennen Sie Geschosshöhe, Maße der Öffnung, Deckenbauweise, Antritts- und Austrittsseite sowie sichtbare Auffälligkeiten. Fotos und vorhandene Pläne ergänzen diese Angaben sinnvoll. Die weiterführende Übersicht „Holztreppe im Berliner Altbau: Worauf Bestand und Grundriss hinweisen“ fasst die wichtigsten Bestandsfragen zusammen. Der passende Beitrag zur Treppenplanung kann anschließend Formen, Bauteile, Materialien und ein Anfrageformular bereitstellen. So entsteht eine klare Grundlage für die fachliche Prüfung, ohne konstruktive oder 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aussagekräftige Unterlage für die Anfrage</a:t>
            </a:r>
          </a:p>
        </p:txBody>
      </p:sp>
      <p:sp>
        <p:nvSpPr>
          <p:cNvPr id="3" name="Content Placeholder 2"/>
          <p:cNvSpPr>
            <a:spLocks noGrp="1"/>
          </p:cNvSpPr>
          <p:nvPr>
            <p:ph idx="1"/>
          </p:nvPr>
        </p:nvSpPr>
        <p:spPr/>
        <p:txBody>
          <a:bodyPr/>
          <a:lstStyle/>
          <a:p>
            <a:pPr>
              <a:defRPr sz="1800"/>
            </a:pPr>
            <a:r>
              <a:t>estalterische Entscheidungen vorwegzunehmen.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Holztreppe im Berliner Altbau: Worauf Bestand und Grundriss hinweisen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