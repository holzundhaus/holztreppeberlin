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berlin.wordpress.com/2026/10/31/trittsicherheit-holztreppe-auftrittsbreite-stufenkanten-rutschhemmung/" TargetMode="External"/><Relationship Id="rId3" Type="http://schemas.openxmlformats.org/officeDocument/2006/relationships/hyperlink" Target="https://holzundhaus.github.io/holztreppeberlin/dateien/minimax-2d6f584a41856893a28b0ca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auf der Holztreppe: Geometrie und Oberfläche im Alltag zusammendenken · Erklärende Präsentation</a:t>
            </a:r>
          </a:p>
        </p:txBody>
      </p:sp>
      <p:sp>
        <p:nvSpPr>
          <p:cNvPr id="3" name="Content Placeholder 2"/>
          <p:cNvSpPr>
            <a:spLocks noGrp="1"/>
          </p:cNvSpPr>
          <p:nvPr>
            <p:ph idx="1"/>
          </p:nvPr>
        </p:nvSpPr>
        <p:spPr/>
        <p:txBody>
          <a:bodyPr/>
          <a:lstStyle/>
          <a:p>
            <a:r>
              <a:t>Überblick: Eine Holztreppe wird nicht allein durch Material und Beschichtung sicher. Entscheidend ist, wie Auftrittsbreite, Trittkante und Oberfläche im Alltag zusammenspielen und ob die Treppe gepflegt wird. Der folgende Leitfaden zeigt, worauf bei Planung, Renovierung und täglicher Nutzung zu achten ist, ohne einzelne Treppen pauschal zu bewerten.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Geometrie und Oberfläche gemeinsam betrachtet werden</a:t>
            </a:r>
          </a:p>
        </p:txBody>
      </p:sp>
      <p:sp>
        <p:nvSpPr>
          <p:cNvPr id="3" name="Content Placeholder 2"/>
          <p:cNvSpPr>
            <a:spLocks noGrp="1"/>
          </p:cNvSpPr>
          <p:nvPr>
            <p:ph idx="1"/>
          </p:nvPr>
        </p:nvSpPr>
        <p:spPr/>
        <p:txBody>
          <a:bodyPr/>
          <a:lstStyle/>
          <a:p>
            <a:pPr>
              <a:defRPr sz="1800"/>
            </a:pPr>
            <a:r>
              <a:t>Der sichere Eindruck einer Stufe entsteht aus mehreren Faktoren. Eine schmale Trittfläche belastet den Fuß anders als ein komfortabler Auftritt, eine kaum erkennbare Kante erschwert das sichere Abrollen, und eine feuchte Oberfläche kann trotz guter Grundkonstruktion rutschig wirken. Form und Beschichtung sollten deshalb nicht getrennt beurteilt werden. Die konkrete Auslegung hängt unter anderem von Gebäudehöhe, Grundriss, Laufrichtung und Nutzung ab. Pauschale Zahlen oder einzelne Standardlösungen helfen hier wenig. Sinnvoller ist eine gemeinsame Prüfung: Passt der nutzbare Auftritt zur Steigung? Bleibt die Trittkante klar erkennbar? Veränder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Geometrie und Oberfläche gemeinsam betrachtet werden</a:t>
            </a:r>
          </a:p>
        </p:txBody>
      </p:sp>
      <p:sp>
        <p:nvSpPr>
          <p:cNvPr id="3" name="Content Placeholder 2"/>
          <p:cNvSpPr>
            <a:spLocks noGrp="1"/>
          </p:cNvSpPr>
          <p:nvPr>
            <p:ph idx="1"/>
          </p:nvPr>
        </p:nvSpPr>
        <p:spPr/>
        <p:txBody>
          <a:bodyPr/>
          <a:lstStyle/>
          <a:p>
            <a:pPr>
              <a:defRPr sz="1800"/>
            </a:pPr>
            <a:r>
              <a:t>t sich das Oberflächenverhalten durch Feuchtigkeit, Staub oder Reinigung?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Auftrittsbreite und Trittkante richtig einschätzen</a:t>
            </a:r>
          </a:p>
        </p:txBody>
      </p:sp>
      <p:sp>
        <p:nvSpPr>
          <p:cNvPr id="3" name="Content Placeholder 2"/>
          <p:cNvSpPr>
            <a:spLocks noGrp="1"/>
          </p:cNvSpPr>
          <p:nvPr>
            <p:ph idx="1"/>
          </p:nvPr>
        </p:nvSpPr>
        <p:spPr/>
        <p:txBody>
          <a:bodyPr/>
          <a:lstStyle/>
          <a:p>
            <a:pPr>
              <a:defRPr sz="1800"/>
            </a:pPr>
            <a:r>
              <a:t>Auftrittsbreite und Trittkante bestimmen, wie deutlich der Fuß eine Position findet. Besonders bei gewendelten Treppen wird der nutzbare Bereich zum Rand hin schmaler. Ein keilförmiger oder stark verjüngter Auftritt kann den Fuß dazu bringen, näher an der Kante zu laufen. Auch die Form der Vorderkante spielt eine Rolle: Eine harte, scharfe Ausbildung ist nicht automatisch angenehm, während eine zu stark gerundete oder gefaste Kante den ertastbaren Übergang verringert. Ziel ist eine deutlich wahrnehmbare, aber nicht unangenehm scharfe Trittkante. Bei der Planung sollten deshalb Schuhgröße, Steigung, Wendelung und die tatsächlich verfügbare Bre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Auftrittsbreite und Trittkante richtig einschätzen</a:t>
            </a:r>
          </a:p>
        </p:txBody>
      </p:sp>
      <p:sp>
        <p:nvSpPr>
          <p:cNvPr id="3" name="Content Placeholder 2"/>
          <p:cNvSpPr>
            <a:spLocks noGrp="1"/>
          </p:cNvSpPr>
          <p:nvPr>
            <p:ph idx="1"/>
          </p:nvPr>
        </p:nvSpPr>
        <p:spPr/>
        <p:txBody>
          <a:bodyPr/>
          <a:lstStyle/>
          <a:p>
            <a:pPr>
              <a:defRPr sz="1800"/>
            </a:pPr>
            <a:r>
              <a:t>ite gemeinsam berücksichtigt werden, statt nur eine Stufe isoliert zu betrachten.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Öl, Lack und Wachs nicht gleich behandeln</a:t>
            </a:r>
          </a:p>
        </p:txBody>
      </p:sp>
      <p:sp>
        <p:nvSpPr>
          <p:cNvPr id="3" name="Content Placeholder 2"/>
          <p:cNvSpPr>
            <a:spLocks noGrp="1"/>
          </p:cNvSpPr>
          <p:nvPr>
            <p:ph idx="1"/>
          </p:nvPr>
        </p:nvSpPr>
        <p:spPr/>
        <p:txBody>
          <a:bodyPr/>
          <a:lstStyle/>
          <a:p>
            <a:pPr>
              <a:defRPr sz="1800"/>
            </a:pPr>
            <a:r>
              <a:t>Die Wahl der Oberflächenbehandlung beeinflusst, wie Holz im Gebrauch greift und ob Feuchtigkeit sichtbar auf der Stufe bleibt. Geölte Oberflächen wirken offen und können Feuchtigkeit aufnehmen. Lackierte Flächen sind dichter; sichtbares Wasser kann dort als Film verbleiben und das Rutschverhalten beeinflussen, bis es abgetrocknet ist. Wachs bildet ebenfalls eine Oberfläche, deren Verhalten sich durch Alterung und Reinigung verändert. Welche Variante sinnvoll ist, hängt von der Umgebung ab. Häufiges Lüften, sommerliche Feuchte, direkte Witterung oder eine Nutzung durch Kinder stellen unterschiedliche Anforderungen. Entscheidend ist deshalb nic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Öl, Lack und Wachs nicht gleich behandeln</a:t>
            </a:r>
          </a:p>
        </p:txBody>
      </p:sp>
      <p:sp>
        <p:nvSpPr>
          <p:cNvPr id="3" name="Content Placeholder 2"/>
          <p:cNvSpPr>
            <a:spLocks noGrp="1"/>
          </p:cNvSpPr>
          <p:nvPr>
            <p:ph idx="1"/>
          </p:nvPr>
        </p:nvSpPr>
        <p:spPr/>
        <p:txBody>
          <a:bodyPr/>
          <a:lstStyle/>
          <a:p>
            <a:pPr>
              <a:defRPr sz="1800"/>
            </a:pPr>
            <a:r>
              <a:t>ht das Oberflächenbild in neuem Zustand, sondern die Oberfläche nach Bewitterung, Verschmutzung und mehreren Pflegeintervallen.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ist Teil der Trittsicherheit</a:t>
            </a:r>
          </a:p>
        </p:txBody>
      </p:sp>
      <p:sp>
        <p:nvSpPr>
          <p:cNvPr id="3" name="Content Placeholder 2"/>
          <p:cNvSpPr>
            <a:spLocks noGrp="1"/>
          </p:cNvSpPr>
          <p:nvPr>
            <p:ph idx="1"/>
          </p:nvPr>
        </p:nvSpPr>
        <p:spPr/>
        <p:txBody>
          <a:bodyPr/>
          <a:lstStyle/>
          <a:p>
            <a:pPr>
              <a:defRPr sz="1800"/>
            </a:pPr>
            <a:r>
              <a:t>Selbst eine grundsätzlich gut gewählte Oberfläche kann unsicher werden, wenn Staub, Feuchtigkeit oder Rückstände die Trittkante und Trittfläche glätten. Verschüttete Flüssigkeiten sollten zeitnah aufgenommen werden; stehende Nässe gehört nicht auf die Stufe. Für lose Verschmutzungen ist ein zur Oberfläche passender Aufsatz geeignet. aggressive Scheuermittel und Dampfreiniger können Holz und Beschichtung angreifen und damit auch das Rutschverhalten verändern. Pflege sollte deshalb materialschonend und regelmäßig erfolgen. Bei einer bestehenden Treppe ist vor einer größeren Umgestaltung außerdem zu prüfen, ob Reinigung, gezielte Verbesserungen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ist Teil der Trittsicherheit</a:t>
            </a:r>
          </a:p>
        </p:txBody>
      </p:sp>
      <p:sp>
        <p:nvSpPr>
          <p:cNvPr id="3" name="Content Placeholder 2"/>
          <p:cNvSpPr>
            <a:spLocks noGrp="1"/>
          </p:cNvSpPr>
          <p:nvPr>
            <p:ph idx="1"/>
          </p:nvPr>
        </p:nvSpPr>
        <p:spPr/>
        <p:txBody>
          <a:bodyPr/>
          <a:lstStyle/>
          <a:p>
            <a:pPr>
              <a:defRPr sz="1800"/>
            </a:pPr>
            <a:r>
              <a:t>an der Trittkante oder Anpassungen im An- und Austrittsbereich überhaupt ausreichen.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Antritt, Austritt und Übergänge gezielt kontrollieren</a:t>
            </a:r>
          </a:p>
        </p:txBody>
      </p:sp>
      <p:sp>
        <p:nvSpPr>
          <p:cNvPr id="3" name="Content Placeholder 2"/>
          <p:cNvSpPr>
            <a:spLocks noGrp="1"/>
          </p:cNvSpPr>
          <p:nvPr>
            <p:ph idx="1"/>
          </p:nvPr>
        </p:nvSpPr>
        <p:spPr/>
        <p:txBody>
          <a:bodyPr/>
          <a:lstStyle/>
          <a:p>
            <a:pPr>
              <a:defRPr sz="1800"/>
            </a:pPr>
            <a:r>
              <a:t>Erste und letzte Stufe werden beim Hinuntergehen leicht unterschätzt, weil der Blick bereits auf den Boden oder den nächsten Raum gerichtet ist. Ein deutlich wahrnehmbarer Übergang unterstützt die Orientierung. Auch der Bodenbelag vor und nach der Treppe beeinflusst den letzten Schritt: Fliesen, Parkett oder Teppich können einen anderen Reibwert und eine andere optische Kante bieten als Holz. Bei beengenden Platzverhältnissen und Wendelungen sollte deshalb geprüft werden, ob ausreichend Bewegungsfläche vorhanden ist und ob Handlauf sowie Stufenkante die Orientierung erleichtern. Für vertiefende Hinweise zur Abstimmung von Geometrie und Oberfl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Antritt, Austritt und Übergänge gezielt kontrollieren</a:t>
            </a:r>
          </a:p>
        </p:txBody>
      </p:sp>
      <p:sp>
        <p:nvSpPr>
          <p:cNvPr id="3" name="Content Placeholder 2"/>
          <p:cNvSpPr>
            <a:spLocks noGrp="1"/>
          </p:cNvSpPr>
          <p:nvPr>
            <p:ph idx="1"/>
          </p:nvPr>
        </p:nvSpPr>
        <p:spPr/>
        <p:txBody>
          <a:bodyPr/>
          <a:lstStyle/>
          <a:p>
            <a:pPr>
              <a:defRPr sz="1800"/>
            </a:pPr>
            <a:r>
              <a:t>äche bietet sich der passende Einstieg an; ergänzend helfen die Ausführungen zu den unterschiedlichen Treppenausführungen bei der Vorbereitung eines konkreten Vorhabens.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Sicher auf der Holztreppe: Geometrie und Oberfläche im Alltag zusammendenken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